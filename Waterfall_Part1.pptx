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8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6812" y="514864"/>
            <a:ext cx="8825658" cy="2677648"/>
          </a:xfrm>
        </p:spPr>
        <p:txBody>
          <a:bodyPr/>
          <a:lstStyle/>
          <a:p>
            <a:r>
              <a:rPr lang="en-US" dirty="0" smtClean="0"/>
              <a:t>ICICI BANK- CRM NEXT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                                      </a:t>
            </a:r>
            <a:endParaRPr lang="en-IN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8255479" y="5269468"/>
            <a:ext cx="3226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Prepared by- Neha </a:t>
            </a:r>
            <a:r>
              <a:rPr lang="en-US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Richhariya</a:t>
            </a:r>
            <a:endParaRPr lang="en-US" b="1" dirty="0" smtClean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Date: </a:t>
            </a:r>
            <a:r>
              <a:rPr lang="en-US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20-09-2022</a:t>
            </a:r>
            <a:endParaRPr lang="en-IN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37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Situation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2830" y="2638005"/>
            <a:ext cx="8825659" cy="3416300"/>
          </a:xfrm>
        </p:spPr>
        <p:txBody>
          <a:bodyPr>
            <a:normAutofit/>
          </a:bodyPr>
          <a:lstStyle/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ICICI Bank already uses a CRM system that supports RMs (Relationship Managers) and BMs (Branch Managers) for customer management, lead tracking, and service request. However, the current system is primarily used as a reporting tool and does not fully support bankers in their daily productivity, customer engagement, and sales performance.</a:t>
            </a:r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6004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3093505"/>
            <a:ext cx="1111950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 spend significant time on manual data entry and admin tasks.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Limited integration- multiple systems need to be accessed for sales, service, and customer data.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</a:t>
            </a:r>
            <a:r>
              <a:rPr kumimoji="0" lang="en-US" alt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proactive insights (e.g., customer churn risk, upsell opportunities).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baseline="0" dirty="0" smtClean="0">
                <a:solidFill>
                  <a:schemeClr val="tx1"/>
                </a:solidFill>
                <a:latin typeface="Arial" panose="020B0604020202020204" pitchFamily="34" charset="0"/>
              </a:rPr>
              <a:t>BMs</a:t>
            </a: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 have limited real time visibility on branch/team performance.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interactions are reactive instead of relationship</a:t>
            </a:r>
            <a:r>
              <a:rPr kumimoji="0" lang="en-US" alt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driven.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037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Opportunity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20753"/>
            <a:ext cx="8825659" cy="34163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pPr marL="0" indent="0" algn="just">
              <a:buNone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Enhance the CRM system into a smart relationship and productivity tool for bankers by integrating: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AI-driven insights (next-best product, customer sentiment)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Unified RM workbench (single window for sales and service)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Mobile CRM with geo-tagging &amp; offline mode.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Branch Managers dashboards &amp; control tower.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Automated compliance checks and customer lifecycle triggers.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135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Purpose Statement: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To redesign and enhance ICICI Bank’s CRM application so that it empowers RMs and BMs with actionable insights, streamlined processes, and proactive customer engagement- resulting in improved sales conversion, branch productivity and customer loyalty.</a:t>
            </a:r>
          </a:p>
          <a:p>
            <a:endParaRPr lang="en-US" sz="1200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38035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Project Objectives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Improve RM productivity by reducing manual tasks by 30%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Provide a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360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° customer view with predictive insights for cross-sell/upsell.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Enable real time branch performance dashboards for BMs.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Reduce turnaround time of service requests by 40%.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Increase customer satisfaction (NPS) by 15% within 1 year of implementation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082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Success Criteria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2834327"/>
            <a:ext cx="5535041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CRM adoption rate by RMs/BMs above 85%.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 conversion improvement by 20-25%.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Cross- sell per customer increases by 15%.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request resolution within SLA&gt;90%.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Positive feedback</a:t>
            </a:r>
            <a:r>
              <a:rPr kumimoji="0" lang="en-US" alt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from RMs/BMs that CRM helps them achieve targets faster.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01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Waterfall Methods/Approach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Requirement Gathering: Performed Interviews, Workshops, Observation &amp; surveys with RMs, BMs, Ops staff and IT team.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Process Analysis: Study current workflows, pain points, and gaps.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Solution Design: Propose features like AI-driven recommendations, mobile CRM, dashboards, compliance automation.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Implementation: Deliver in phases (pilot branch- regional rollout- full bank-wide rollout)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Testing &amp; Training: UAT with bankers, hands on training, feedback loop.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Maintenance &amp; Support: Post-implementation KPI tracking and enhancements.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025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7"/>
            <a:ext cx="8761413" cy="967275"/>
          </a:xfrm>
        </p:spPr>
        <p:txBody>
          <a:bodyPr/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Key characteristics of Waterfall in this Project: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Each phase (requirement gathering-design-development-testing-deployment) is completed fully before the next begins.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Requirements are fixed at the start, so changes later are hard.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Lots of documentation is done at every stage.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Users (RMs/BMs) are mostly involved at the beginning and at the end(UAT).</a:t>
            </a:r>
          </a:p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Testing happens late, after development is completed.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537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2492456"/>
            <a:ext cx="10938293" cy="7663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People (Human Resources)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2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Project team: Business Analyst, product owner, CRM vendor, IT developers, Data Science Team, QA Testers.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Stakeholders: RM, BM, Compliance Team, Customer Service manager, IT security.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altLang="en-US" sz="12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2.     Time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 Estimated Total project duration 8-9 months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Requirement Gathering and Analysis- 1.5 months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System Design- 1 month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Development- 3 months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Testing-1.5 months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Deployment-1 month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Support &amp; maintenance- 1-2 months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2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72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793281"/>
            <a:ext cx="8825659" cy="3416300"/>
          </a:xfrm>
        </p:spPr>
        <p:txBody>
          <a:bodyPr>
            <a:normAutofit/>
          </a:bodyPr>
          <a:lstStyle/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3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Budget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     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Licensing Cost- CRM subscription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Implementation Cost- vendor services, integration.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Training Cost- training sessions, workshops, </a:t>
            </a: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surveys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Contingency Reserve- Extra budget kept aside to handle unexpected changes like new compliance rules or additional </a:t>
            </a: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features.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4"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Other Resources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Hardware- Servers, Laptops, Tablets.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Software- CRM system, AI tools, reporting tools.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Network- Secure, fast connectivity for branches.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Data Infrastructure- warehouse, backup, recovery systems.     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1200" dirty="0" smtClean="0"/>
          </a:p>
          <a:p>
            <a:pPr marL="0" indent="0">
              <a:buNone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06732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Risks/Dependencies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user Adoption Risk: RMs/BMs may resist change- mitigate via training and gamification.</a:t>
            </a:r>
          </a:p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Data Quality Risk: Poor or incomplete data may reduce accuracy of AI recommendations.</a:t>
            </a:r>
          </a:p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Integration Risk: CRM must integrate with core banking systems, LOS, mobile app.</a:t>
            </a:r>
          </a:p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Compliance Risk: Must adhere to RBI and ICICI internal policies on data privacy.</a:t>
            </a:r>
          </a:p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Dependency: On vendor ( CRMNEXT) for timely delivery of enhancement.</a:t>
            </a:r>
          </a:p>
          <a:p>
            <a:endParaRPr lang="en-IN" dirty="0" smtClean="0"/>
          </a:p>
          <a:p>
            <a:endParaRPr lang="en-IN" b="1" dirty="0"/>
          </a:p>
          <a:p>
            <a:endParaRPr lang="en-IN" b="1" dirty="0" smtClean="0"/>
          </a:p>
          <a:p>
            <a:endParaRPr lang="en-IN" b="1" dirty="0"/>
          </a:p>
          <a:p>
            <a:endParaRPr lang="en-IN" b="1" dirty="0" smtClean="0"/>
          </a:p>
        </p:txBody>
      </p:sp>
    </p:spTree>
    <p:extLst>
      <p:ext uri="{BB962C8B-B14F-4D97-AF65-F5344CB8AC3E}">
        <p14:creationId xmlns:p14="http://schemas.microsoft.com/office/powerpoint/2010/main" val="4835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3726610"/>
            <a:ext cx="8825659" cy="22931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THANK YOU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64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1420</TotalTime>
  <Words>727</Words>
  <Application>Microsoft Office PowerPoint</Application>
  <PresentationFormat>Widescreen</PresentationFormat>
  <Paragraphs>121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Wingdings</vt:lpstr>
      <vt:lpstr>Wingdings 3</vt:lpstr>
      <vt:lpstr>Ion Boardroom</vt:lpstr>
      <vt:lpstr>ICICI BANK- CRM NEXT</vt:lpstr>
      <vt:lpstr>Situation</vt:lpstr>
      <vt:lpstr>Problem</vt:lpstr>
      <vt:lpstr>Opportunity</vt:lpstr>
      <vt:lpstr>Purpose Statement:</vt:lpstr>
      <vt:lpstr>Project Objectives</vt:lpstr>
      <vt:lpstr>Success Criteria</vt:lpstr>
      <vt:lpstr>Waterfall Methods/Approach</vt:lpstr>
      <vt:lpstr>Key characteristics of Waterfall in this Project:</vt:lpstr>
      <vt:lpstr>Resources</vt:lpstr>
      <vt:lpstr>PowerPoint Presentation</vt:lpstr>
      <vt:lpstr>Risks/Dependencies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CRM NEXT</dc:title>
  <dc:creator>Rahul</dc:creator>
  <cp:lastModifiedBy>Rahul</cp:lastModifiedBy>
  <cp:revision>18</cp:revision>
  <dcterms:created xsi:type="dcterms:W3CDTF">2025-08-19T08:24:13Z</dcterms:created>
  <dcterms:modified xsi:type="dcterms:W3CDTF">2026-01-06T14:28:53Z</dcterms:modified>
</cp:coreProperties>
</file>